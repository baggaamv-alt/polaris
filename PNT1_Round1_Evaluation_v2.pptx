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2005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 pitch. We are not building a dashboard; we are building a twin that reasons about whether its own data is trustworthy and measures its own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 statement has five requirements. Most teams build a map plus reroute. P4 and P5 are where we differentiate.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problem we focus on: decisions made on stale or untrustworthy data, with no way to prove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stage answers one question. TRUST and PROVE are the stages most solutions skip.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one scenario end to end. Steps 2 and 8 are our differentiators: checking data before it is used, and scoring outcomes afterwards. Nothing executes without a human.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target design from our Level 1 documents. The true-world simulator is kept separate so our accuracy measurements stay honest.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Trust is a gradual score, not a yes/no flag. GPS is the truck's own signal; we cross-check it against the road network, never claim satellite tracking.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blockage detector is itself an attack surface, so it needs a guard. Data loss moves the twin through explicit modes instead of crashing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Because the true world is simulated, accuracy becomes something we can measure instead of claim. Results will come from Level 3 onwards.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small, opinionated stack. Heavy options like Kafka and graph databases were deliberately rejected for this 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pitch and the honesty policy. The full design is in the docs folder.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19.png"/><Relationship Id="rId5" Type="http://schemas.openxmlformats.org/officeDocument/2006/relationships/image" Target="../media/image15.png"/><Relationship Id="rId10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6.png"/><Relationship Id="rId5" Type="http://schemas.openxmlformats.org/officeDocument/2006/relationships/image" Target="../media/image21.png"/><Relationship Id="rId10" Type="http://schemas.openxmlformats.org/officeDocument/2006/relationships/image" Target="../media/image25.png"/><Relationship Id="rId4" Type="http://schemas.openxmlformats.org/officeDocument/2006/relationships/image" Target="../media/image20.png"/><Relationship Id="rId9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ECF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CODESTORM  ·  ROUND 1  ·  STATEMENT PNT1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828800"/>
            <a:ext cx="6949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000" dirty="0">
                <a:solidFill>
                  <a:srgbClr val="ECFF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Logistics Network</a:t>
            </a:r>
            <a:endParaRPr lang="en-US" sz="5000" dirty="0"/>
          </a:p>
          <a:p>
            <a:pPr marL="0" indent="0">
              <a:buNone/>
            </a:pPr>
            <a:r>
              <a:rPr lang="en-US" sz="5000" dirty="0">
                <a:solidFill>
                  <a:srgbClr val="ECFF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Digital Twin</a:t>
            </a:r>
            <a:endParaRPr lang="en-US" sz="5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97764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rgbClr val="D6F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logistics twin that sees trouble coming, knows which data to trust, and can prove how accurate it is.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9C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 &amp; Logistics  ·  Level 1: Idea, Architecture, Planning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9640" y="502920"/>
            <a:ext cx="2331720" cy="233172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9640" y="2240280"/>
            <a:ext cx="2331720" cy="2331720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9640" y="3977640"/>
            <a:ext cx="2331720" cy="233172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8549640" y="1097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kern="0" spc="300" dirty="0">
                <a:solidFill>
                  <a:srgbClr val="0054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SEE</a:t>
            </a:r>
            <a:endParaRPr lang="en-US" sz="1400" dirty="0"/>
          </a:p>
        </p:txBody>
      </p:sp>
      <p:sp>
        <p:nvSpPr>
          <p:cNvPr id="10" name="Text 5"/>
          <p:cNvSpPr txBox="1"/>
          <p:nvPr/>
        </p:nvSpPr>
        <p:spPr>
          <a:xfrm>
            <a:off x="8549640" y="28346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kern="0" spc="300" dirty="0">
                <a:solidFill>
                  <a:srgbClr val="0B2E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TRUST</a:t>
            </a:r>
            <a:endParaRPr lang="en-US" sz="1400" dirty="0"/>
          </a:p>
        </p:txBody>
      </p:sp>
      <p:sp>
        <p:nvSpPr>
          <p:cNvPr id="11" name="Text 6"/>
          <p:cNvSpPr txBox="1"/>
          <p:nvPr/>
        </p:nvSpPr>
        <p:spPr>
          <a:xfrm>
            <a:off x="8549640" y="48920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kern="0" spc="300" dirty="0">
                <a:solidFill>
                  <a:srgbClr val="ECFF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PROVE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55680" y="4572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5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05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rgbClr val="0B2E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Supply chains break in cascades,</a:t>
            </a:r>
            <a:endParaRPr lang="en-US" sz="3000" dirty="0"/>
          </a:p>
          <a:p>
            <a:pPr marL="0" indent="0">
              <a:buNone/>
            </a:pPr>
            <a:r>
              <a:rPr lang="en-US" sz="3000" dirty="0">
                <a:solidFill>
                  <a:srgbClr val="0B2E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and the data can lie.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31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SHOCKS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429000" y="2331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DATA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265176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545F">
                <a:alpha val="12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944368"/>
            <a:ext cx="384048" cy="38404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80160" y="29626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closures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429000" y="2743200"/>
            <a:ext cx="2651760" cy="777240"/>
          </a:xfrm>
          <a:prstGeom prst="roundRect">
            <a:avLst>
              <a:gd name="adj" fmla="val 14118"/>
            </a:avLst>
          </a:prstGeom>
          <a:solidFill>
            <a:srgbClr val="00545F"/>
          </a:solidFill>
          <a:ln w="12700">
            <a:solidFill>
              <a:srgbClr val="00545F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1880" y="2944368"/>
            <a:ext cx="384048" cy="38404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160520" y="287121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CF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Spoofed GPS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548640" y="3703320"/>
            <a:ext cx="265176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545F">
                <a:alpha val="12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904488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80160" y="392277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weather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3429000" y="3703320"/>
            <a:ext cx="2651760" cy="777240"/>
          </a:xfrm>
          <a:prstGeom prst="roundRect">
            <a:avLst>
              <a:gd name="adj" fmla="val 14118"/>
            </a:avLst>
          </a:prstGeom>
          <a:solidFill>
            <a:srgbClr val="00545F"/>
          </a:solidFill>
          <a:ln w="12700">
            <a:solidFill>
              <a:srgbClr val="00545F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1880" y="3904488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4160520" y="383133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CF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Corrupted supplier feeds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548640" y="4663440"/>
            <a:ext cx="265176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545F">
                <a:alpha val="12000"/>
              </a:srgbClr>
            </a:outerShdw>
          </a:effectLst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" y="4864608"/>
            <a:ext cx="384048" cy="384048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280160" y="488289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spikes</a:t>
            </a:r>
            <a:endParaRPr lang="en-US" sz="1500" dirty="0"/>
          </a:p>
        </p:txBody>
      </p:sp>
      <p:sp>
        <p:nvSpPr>
          <p:cNvPr id="22" name="Shape 15"/>
          <p:cNvSpPr/>
          <p:nvPr/>
        </p:nvSpPr>
        <p:spPr>
          <a:xfrm>
            <a:off x="3429000" y="4663440"/>
            <a:ext cx="2651760" cy="777240"/>
          </a:xfrm>
          <a:prstGeom prst="roundRect">
            <a:avLst>
              <a:gd name="adj" fmla="val 14118"/>
            </a:avLst>
          </a:prstGeom>
          <a:solidFill>
            <a:srgbClr val="00545F"/>
          </a:solidFill>
          <a:ln w="12700">
            <a:solidFill>
              <a:srgbClr val="00545F"/>
            </a:solidFill>
            <a:prstDash val="solid"/>
          </a:ln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11880" y="4864608"/>
            <a:ext cx="384048" cy="384048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4160520" y="479145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CF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blackouts</a:t>
            </a:r>
            <a:endParaRPr lang="en-US" sz="1500" dirty="0"/>
          </a:p>
        </p:txBody>
      </p:sp>
      <p:sp>
        <p:nvSpPr>
          <p:cNvPr id="25" name="Text 17"/>
          <p:cNvSpPr txBox="1"/>
          <p:nvPr/>
        </p:nvSpPr>
        <p:spPr>
          <a:xfrm>
            <a:off x="6720840" y="2331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PNT1 MUST DELIVER</a:t>
            </a:r>
            <a:endParaRPr lang="en-US" sz="1100" dirty="0"/>
          </a:p>
        </p:txBody>
      </p:sp>
      <p:sp>
        <p:nvSpPr>
          <p:cNvPr id="26" name="Shape 18"/>
          <p:cNvSpPr/>
          <p:nvPr/>
        </p:nvSpPr>
        <p:spPr>
          <a:xfrm>
            <a:off x="6720840" y="2697480"/>
            <a:ext cx="457200" cy="457200"/>
          </a:xfrm>
          <a:prstGeom prst="ellipse">
            <a:avLst/>
          </a:prstGeom>
          <a:solidFill>
            <a:srgbClr val="00545F"/>
          </a:solidFill>
          <a:ln w="12700">
            <a:solidFill>
              <a:srgbClr val="00545F"/>
            </a:solidFill>
            <a:prstDash val="solid"/>
          </a:ln>
        </p:spPr>
      </p:sp>
      <p:sp>
        <p:nvSpPr>
          <p:cNvPr id="27" name="Text 19"/>
          <p:cNvSpPr txBox="1"/>
          <p:nvPr/>
        </p:nvSpPr>
        <p:spPr>
          <a:xfrm>
            <a:off x="672084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CF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200" dirty="0"/>
          </a:p>
        </p:txBody>
      </p:sp>
      <p:sp>
        <p:nvSpPr>
          <p:cNvPr id="28" name="Text 20"/>
          <p:cNvSpPr txBox="1"/>
          <p:nvPr/>
        </p:nvSpPr>
        <p:spPr>
          <a:xfrm>
            <a:off x="7315200" y="2660904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Multi-component architecture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high-throughput ingestion + graph model</a:t>
            </a:r>
            <a:endParaRPr lang="en-US" sz="1500" dirty="0"/>
          </a:p>
        </p:txBody>
      </p:sp>
      <p:sp>
        <p:nvSpPr>
          <p:cNvPr id="29" name="Shape 21"/>
          <p:cNvSpPr/>
          <p:nvPr/>
        </p:nvSpPr>
        <p:spPr>
          <a:xfrm>
            <a:off x="6720840" y="3300984"/>
            <a:ext cx="457200" cy="457200"/>
          </a:xfrm>
          <a:prstGeom prst="ellipse">
            <a:avLst/>
          </a:prstGeom>
          <a:solidFill>
            <a:srgbClr val="00545F"/>
          </a:solidFill>
          <a:ln w="12700">
            <a:solidFill>
              <a:srgbClr val="00545F"/>
            </a:solidFill>
            <a:prstDash val="solid"/>
          </a:ln>
        </p:spPr>
      </p:sp>
      <p:sp>
        <p:nvSpPr>
          <p:cNvPr id="30" name="Text 22"/>
          <p:cNvSpPr txBox="1"/>
          <p:nvPr/>
        </p:nvSpPr>
        <p:spPr>
          <a:xfrm>
            <a:off x="6720840" y="3300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CF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200" dirty="0"/>
          </a:p>
        </p:txBody>
      </p:sp>
      <p:sp>
        <p:nvSpPr>
          <p:cNvPr id="31" name="Text 23"/>
          <p:cNvSpPr txBox="1"/>
          <p:nvPr/>
        </p:nvSpPr>
        <p:spPr>
          <a:xfrm>
            <a:off x="7315200" y="326440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Scenario-based optimization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what-ifs and automated recommendations</a:t>
            </a:r>
            <a:endParaRPr lang="en-US" sz="1500" dirty="0"/>
          </a:p>
        </p:txBody>
      </p:sp>
      <p:sp>
        <p:nvSpPr>
          <p:cNvPr id="32" name="Shape 24"/>
          <p:cNvSpPr/>
          <p:nvPr/>
        </p:nvSpPr>
        <p:spPr>
          <a:xfrm>
            <a:off x="6720840" y="3904488"/>
            <a:ext cx="457200" cy="457200"/>
          </a:xfrm>
          <a:prstGeom prst="ellipse">
            <a:avLst/>
          </a:prstGeom>
          <a:solidFill>
            <a:srgbClr val="00545F"/>
          </a:solidFill>
          <a:ln w="12700">
            <a:solidFill>
              <a:srgbClr val="00545F"/>
            </a:solidFill>
            <a:prstDash val="solid"/>
          </a:ln>
        </p:spPr>
      </p:sp>
      <p:sp>
        <p:nvSpPr>
          <p:cNvPr id="33" name="Text 25"/>
          <p:cNvSpPr txBox="1"/>
          <p:nvPr/>
        </p:nvSpPr>
        <p:spPr>
          <a:xfrm>
            <a:off x="6720840" y="3904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CF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200" dirty="0"/>
          </a:p>
        </p:txBody>
      </p:sp>
      <p:sp>
        <p:nvSpPr>
          <p:cNvPr id="34" name="Text 26"/>
          <p:cNvSpPr txBox="1"/>
          <p:nvPr/>
        </p:nvSpPr>
        <p:spPr>
          <a:xfrm>
            <a:off x="7315200" y="386791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visibility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orders, stock and links in real time</a:t>
            </a:r>
            <a:endParaRPr lang="en-US" sz="1500" dirty="0"/>
          </a:p>
        </p:txBody>
      </p:sp>
      <p:sp>
        <p:nvSpPr>
          <p:cNvPr id="35" name="Shape 27"/>
          <p:cNvSpPr/>
          <p:nvPr/>
        </p:nvSpPr>
        <p:spPr>
          <a:xfrm>
            <a:off x="6720840" y="4507992"/>
            <a:ext cx="457200" cy="457200"/>
          </a:xfrm>
          <a:prstGeom prst="ellipse">
            <a:avLst/>
          </a:prstGeom>
          <a:solidFill>
            <a:srgbClr val="D6FB00"/>
          </a:solidFill>
          <a:ln w="12700">
            <a:solidFill>
              <a:srgbClr val="D6FB00"/>
            </a:solidFill>
            <a:prstDash val="solid"/>
          </a:ln>
        </p:spPr>
      </p:sp>
      <p:sp>
        <p:nvSpPr>
          <p:cNvPr id="36" name="Text 28"/>
          <p:cNvSpPr txBox="1"/>
          <p:nvPr/>
        </p:nvSpPr>
        <p:spPr>
          <a:xfrm>
            <a:off x="6720840" y="4507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200" dirty="0"/>
          </a:p>
        </p:txBody>
      </p:sp>
      <p:sp>
        <p:nvSpPr>
          <p:cNvPr id="37" name="Text 29"/>
          <p:cNvSpPr txBox="1"/>
          <p:nvPr/>
        </p:nvSpPr>
        <p:spPr>
          <a:xfrm>
            <a:off x="7315200" y="4471416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resilience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spoofing, bad payloads, blackouts</a:t>
            </a:r>
            <a:endParaRPr lang="en-US" sz="1500" dirty="0"/>
          </a:p>
        </p:txBody>
      </p:sp>
      <p:sp>
        <p:nvSpPr>
          <p:cNvPr id="38" name="Shape 30"/>
          <p:cNvSpPr/>
          <p:nvPr/>
        </p:nvSpPr>
        <p:spPr>
          <a:xfrm>
            <a:off x="6720840" y="5111496"/>
            <a:ext cx="457200" cy="457200"/>
          </a:xfrm>
          <a:prstGeom prst="ellipse">
            <a:avLst/>
          </a:prstGeom>
          <a:solidFill>
            <a:srgbClr val="D6FB00"/>
          </a:solidFill>
          <a:ln w="12700">
            <a:solidFill>
              <a:srgbClr val="D6FB00"/>
            </a:solidFill>
            <a:prstDash val="solid"/>
          </a:ln>
        </p:spPr>
      </p:sp>
      <p:sp>
        <p:nvSpPr>
          <p:cNvPr id="39" name="Text 31"/>
          <p:cNvSpPr txBox="1"/>
          <p:nvPr/>
        </p:nvSpPr>
        <p:spPr>
          <a:xfrm>
            <a:off x="6720840" y="5111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1200" dirty="0"/>
          </a:p>
        </p:txBody>
      </p:sp>
      <p:sp>
        <p:nvSpPr>
          <p:cNvPr id="40" name="Text 32"/>
          <p:cNvSpPr txBox="1"/>
          <p:nvPr/>
        </p:nvSpPr>
        <p:spPr>
          <a:xfrm>
            <a:off x="7315200" y="50749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evaluation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vs physical outcomes</a:t>
            </a:r>
            <a:endParaRPr lang="en-US" sz="1500" dirty="0"/>
          </a:p>
        </p:txBody>
      </p:sp>
      <p:sp>
        <p:nvSpPr>
          <p:cNvPr id="41" name="Shape 33"/>
          <p:cNvSpPr/>
          <p:nvPr/>
        </p:nvSpPr>
        <p:spPr>
          <a:xfrm>
            <a:off x="6720840" y="5788152"/>
            <a:ext cx="4937760" cy="457200"/>
          </a:xfrm>
          <a:prstGeom prst="roundRect">
            <a:avLst>
              <a:gd name="adj" fmla="val 24000"/>
            </a:avLst>
          </a:prstGeom>
          <a:solidFill>
            <a:srgbClr val="D6FB00"/>
          </a:solidFill>
          <a:ln w="12700">
            <a:solidFill>
              <a:srgbClr val="D6FB00"/>
            </a:solidFill>
            <a:prstDash val="solid"/>
          </a:ln>
        </p:spPr>
      </p:sp>
      <p:sp>
        <p:nvSpPr>
          <p:cNvPr id="42" name="Text 34"/>
          <p:cNvSpPr txBox="1"/>
          <p:nvPr/>
        </p:nvSpPr>
        <p:spPr>
          <a:xfrm>
            <a:off x="6858000" y="578815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center of gravity: P4 trust + P5 proof, the most under-built parts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55680" y="4572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5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05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rgbClr val="0B2E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today's tools fall short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545F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194560"/>
            <a:ext cx="731520" cy="731520"/>
          </a:xfrm>
          <a:prstGeom prst="ellipse">
            <a:avLst/>
          </a:prstGeom>
          <a:solidFill>
            <a:srgbClr val="00545F"/>
          </a:solidFill>
          <a:ln w="12700">
            <a:solidFill>
              <a:srgbClr val="00545F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23774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31089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look backwards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8404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show what already went wrong, after the delay has spread.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31520" y="4892040"/>
            <a:ext cx="3200400" cy="1051560"/>
          </a:xfrm>
          <a:prstGeom prst="roundRect">
            <a:avLst>
              <a:gd name="adj" fmla="val 10435"/>
            </a:avLst>
          </a:prstGeom>
          <a:solidFill>
            <a:srgbClr val="D6FB00"/>
          </a:solidFill>
          <a:ln w="12700">
            <a:solidFill>
              <a:srgbClr val="D6FB0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68680" y="489204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warn before the disruption and simulate what happens next.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297680" y="192024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545F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0" y="2194560"/>
            <a:ext cx="731520" cy="731520"/>
          </a:xfrm>
          <a:prstGeom prst="ellipse">
            <a:avLst/>
          </a:prstGeom>
          <a:solidFill>
            <a:srgbClr val="00545F"/>
          </a:solidFill>
          <a:ln w="12700">
            <a:solidFill>
              <a:srgbClr val="00545F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237744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572000" y="31089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trusted blindly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4572000" y="38404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spoofed GPS feed or faked stock count quietly drives bad decisions.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4480560" y="4892040"/>
            <a:ext cx="3200400" cy="1051560"/>
          </a:xfrm>
          <a:prstGeom prst="roundRect">
            <a:avLst>
              <a:gd name="adj" fmla="val 10435"/>
            </a:avLst>
          </a:prstGeom>
          <a:solidFill>
            <a:srgbClr val="D6FB00"/>
          </a:solidFill>
          <a:ln w="12700">
            <a:solidFill>
              <a:srgbClr val="D6FB00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4617720" y="489204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reading is checked and scored before it can touch the twin.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8046720" y="192024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545F">
                <a:alpha val="14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321040" y="2194560"/>
            <a:ext cx="731520" cy="731520"/>
          </a:xfrm>
          <a:prstGeom prst="ellipse">
            <a:avLst/>
          </a:prstGeom>
          <a:solidFill>
            <a:srgbClr val="00545F"/>
          </a:solidFill>
          <a:ln w="12700">
            <a:solidFill>
              <a:srgbClr val="00545F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0" y="2377440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8321040" y="31089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is claimed, not proven</a:t>
            </a:r>
            <a:endParaRPr lang="en-US" sz="1700" dirty="0"/>
          </a:p>
        </p:txBody>
      </p:sp>
      <p:sp>
        <p:nvSpPr>
          <p:cNvPr id="23" name="Text 18"/>
          <p:cNvSpPr txBox="1"/>
          <p:nvPr/>
        </p:nvSpPr>
        <p:spPr>
          <a:xfrm>
            <a:off x="8321040" y="38404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can say how close the model is to what really happened.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8229600" y="4892040"/>
            <a:ext cx="3200400" cy="1051560"/>
          </a:xfrm>
          <a:prstGeom prst="roundRect">
            <a:avLst>
              <a:gd name="adj" fmla="val 10435"/>
            </a:avLst>
          </a:prstGeom>
          <a:solidFill>
            <a:srgbClr val="D6FB00"/>
          </a:solidFill>
          <a:ln w="12700">
            <a:solidFill>
              <a:srgbClr val="D6FB00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8366760" y="489204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plan to measure the twin against a hidden "true" world it never sees.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55680" y="4572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D6F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D6F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rgbClr val="ECFF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loop: see, trust, predict, respond, prove</a:t>
            </a:r>
            <a:endParaRPr lang="en-US" sz="3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148840"/>
            <a:ext cx="1600200" cy="160020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860" y="2628900"/>
            <a:ext cx="640080" cy="6400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02920" y="39776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6F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SEE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43891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CF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happening now?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47548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9C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replica of the network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2395728" y="256032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000" dirty="0">
                <a:solidFill>
                  <a:srgbClr val="D6F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40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26080" y="2148840"/>
            <a:ext cx="1600200" cy="1600200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06140" y="2628900"/>
            <a:ext cx="640080" cy="64008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2743200" y="39776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6F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TRUST</a:t>
            </a:r>
            <a:endParaRPr lang="en-US" sz="1600" dirty="0"/>
          </a:p>
        </p:txBody>
      </p:sp>
      <p:sp>
        <p:nvSpPr>
          <p:cNvPr id="14" name="Text 8"/>
          <p:cNvSpPr txBox="1"/>
          <p:nvPr/>
        </p:nvSpPr>
        <p:spPr>
          <a:xfrm>
            <a:off x="2697480" y="43891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CF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believe the data?</a:t>
            </a:r>
            <a:endParaRPr lang="en-US" sz="1400" dirty="0"/>
          </a:p>
        </p:txBody>
      </p:sp>
      <p:sp>
        <p:nvSpPr>
          <p:cNvPr id="15" name="Text 9"/>
          <p:cNvSpPr txBox="1"/>
          <p:nvPr/>
        </p:nvSpPr>
        <p:spPr>
          <a:xfrm>
            <a:off x="2697480" y="47548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9C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and score every reading</a:t>
            </a:r>
            <a:endParaRPr lang="en-US" sz="1200" dirty="0"/>
          </a:p>
        </p:txBody>
      </p:sp>
      <p:sp>
        <p:nvSpPr>
          <p:cNvPr id="16" name="Text 10"/>
          <p:cNvSpPr txBox="1"/>
          <p:nvPr/>
        </p:nvSpPr>
        <p:spPr>
          <a:xfrm>
            <a:off x="4636008" y="256032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000" dirty="0">
                <a:solidFill>
                  <a:srgbClr val="D6F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40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6360" y="2148840"/>
            <a:ext cx="1600200" cy="1600200"/>
          </a:xfrm>
          <a:prstGeom prst="rect">
            <a:avLst/>
          </a:prstGeom>
        </p:spPr>
      </p:pic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46420" y="2628900"/>
            <a:ext cx="640080" cy="640080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4983480" y="39776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6F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PREDICT</a:t>
            </a:r>
            <a:endParaRPr lang="en-US" sz="1600" dirty="0"/>
          </a:p>
        </p:txBody>
      </p:sp>
      <p:sp>
        <p:nvSpPr>
          <p:cNvPr id="20" name="Text 12"/>
          <p:cNvSpPr txBox="1"/>
          <p:nvPr/>
        </p:nvSpPr>
        <p:spPr>
          <a:xfrm>
            <a:off x="4937760" y="43891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CF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next?</a:t>
            </a:r>
            <a:endParaRPr lang="en-US" sz="1400" dirty="0"/>
          </a:p>
        </p:txBody>
      </p:sp>
      <p:sp>
        <p:nvSpPr>
          <p:cNvPr id="21" name="Text 13"/>
          <p:cNvSpPr txBox="1"/>
          <p:nvPr/>
        </p:nvSpPr>
        <p:spPr>
          <a:xfrm>
            <a:off x="4937760" y="47548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9C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risk and cascade simulation</a:t>
            </a:r>
            <a:endParaRPr lang="en-US" sz="1200" dirty="0"/>
          </a:p>
        </p:txBody>
      </p:sp>
      <p:sp>
        <p:nvSpPr>
          <p:cNvPr id="22" name="Text 14"/>
          <p:cNvSpPr txBox="1"/>
          <p:nvPr/>
        </p:nvSpPr>
        <p:spPr>
          <a:xfrm>
            <a:off x="6876288" y="256032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000" dirty="0">
                <a:solidFill>
                  <a:srgbClr val="D6F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400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6640" y="2148840"/>
            <a:ext cx="1600200" cy="1600200"/>
          </a:xfrm>
          <a:prstGeom prst="rect">
            <a:avLst/>
          </a:prstGeom>
        </p:spPr>
      </p:pic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86700" y="2628900"/>
            <a:ext cx="640080" cy="640080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7223760" y="39776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6F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RESPOND</a:t>
            </a:r>
            <a:endParaRPr lang="en-US" sz="1600" dirty="0"/>
          </a:p>
        </p:txBody>
      </p:sp>
      <p:sp>
        <p:nvSpPr>
          <p:cNvPr id="26" name="Text 16"/>
          <p:cNvSpPr txBox="1"/>
          <p:nvPr/>
        </p:nvSpPr>
        <p:spPr>
          <a:xfrm>
            <a:off x="7178040" y="43891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CF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we do?</a:t>
            </a:r>
            <a:endParaRPr lang="en-US" sz="1400" dirty="0"/>
          </a:p>
        </p:txBody>
      </p:sp>
      <p:sp>
        <p:nvSpPr>
          <p:cNvPr id="27" name="Text 17"/>
          <p:cNvSpPr txBox="1"/>
          <p:nvPr/>
        </p:nvSpPr>
        <p:spPr>
          <a:xfrm>
            <a:off x="7178040" y="47548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9C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options, a human approves</a:t>
            </a:r>
            <a:endParaRPr lang="en-US" sz="1200" dirty="0"/>
          </a:p>
        </p:txBody>
      </p:sp>
      <p:sp>
        <p:nvSpPr>
          <p:cNvPr id="28" name="Text 18"/>
          <p:cNvSpPr txBox="1"/>
          <p:nvPr/>
        </p:nvSpPr>
        <p:spPr>
          <a:xfrm>
            <a:off x="9116568" y="256032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000" dirty="0">
                <a:solidFill>
                  <a:srgbClr val="D6F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4000" dirty="0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46920" y="2148840"/>
            <a:ext cx="1600200" cy="1600200"/>
          </a:xfrm>
          <a:prstGeom prst="rect">
            <a:avLst/>
          </a:prstGeom>
        </p:spPr>
      </p:pic>
      <p:pic>
        <p:nvPicPr>
          <p:cNvPr id="30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26980" y="2628900"/>
            <a:ext cx="640080" cy="640080"/>
          </a:xfrm>
          <a:prstGeom prst="rect">
            <a:avLst/>
          </a:prstGeom>
        </p:spPr>
      </p:pic>
      <p:sp>
        <p:nvSpPr>
          <p:cNvPr id="31" name="Text 19"/>
          <p:cNvSpPr txBox="1"/>
          <p:nvPr/>
        </p:nvSpPr>
        <p:spPr>
          <a:xfrm>
            <a:off x="9464040" y="39776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6F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PROVE</a:t>
            </a:r>
            <a:endParaRPr lang="en-US" sz="1600" dirty="0"/>
          </a:p>
        </p:txBody>
      </p:sp>
      <p:sp>
        <p:nvSpPr>
          <p:cNvPr id="32" name="Text 20"/>
          <p:cNvSpPr txBox="1"/>
          <p:nvPr/>
        </p:nvSpPr>
        <p:spPr>
          <a:xfrm>
            <a:off x="9418320" y="43891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CF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good were we?</a:t>
            </a:r>
            <a:endParaRPr lang="en-US" sz="1400" dirty="0"/>
          </a:p>
        </p:txBody>
      </p:sp>
      <p:sp>
        <p:nvSpPr>
          <p:cNvPr id="33" name="Text 21"/>
          <p:cNvSpPr txBox="1"/>
          <p:nvPr/>
        </p:nvSpPr>
        <p:spPr>
          <a:xfrm>
            <a:off x="9418320" y="47548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9C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against the hidden truth</a:t>
            </a:r>
            <a:endParaRPr lang="en-US" sz="1200" dirty="0"/>
          </a:p>
        </p:txBody>
      </p:sp>
      <p:sp>
        <p:nvSpPr>
          <p:cNvPr id="34" name="Text 22"/>
          <p:cNvSpPr txBox="1"/>
          <p:nvPr/>
        </p:nvSpPr>
        <p:spPr>
          <a:xfrm>
            <a:off x="548640" y="57607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ECF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logistics dashboard. A replica that acts before failure and shows how accurate it is.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55680" y="4572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5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05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rgbClr val="0B2E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storm is forecast. What happens next?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6060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545F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148840"/>
            <a:ext cx="548640" cy="548640"/>
          </a:xfrm>
          <a:prstGeom prst="ellipse">
            <a:avLst/>
          </a:prstGeom>
          <a:solidFill>
            <a:srgbClr val="00545F"/>
          </a:solidFill>
          <a:ln w="12700">
            <a:solidFill>
              <a:srgbClr val="0054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CF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3160" y="2194560"/>
            <a:ext cx="457200" cy="4572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7724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arrive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18211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truck, warehouse and port telemetry plus weather forecasts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364992" y="1920240"/>
            <a:ext cx="2606040" cy="1874520"/>
          </a:xfrm>
          <a:prstGeom prst="roundRect">
            <a:avLst>
              <a:gd name="adj" fmla="val 5854"/>
            </a:avLst>
          </a:prstGeom>
          <a:solidFill>
            <a:srgbClr val="00545F"/>
          </a:solidFill>
          <a:ln w="12700">
            <a:solidFill>
              <a:srgbClr val="00545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593592" y="2148840"/>
            <a:ext cx="548640" cy="548640"/>
          </a:xfrm>
          <a:prstGeom prst="ellipse">
            <a:avLst/>
          </a:prstGeom>
          <a:solidFill>
            <a:srgbClr val="D6FB00"/>
          </a:solidFill>
          <a:ln w="12700">
            <a:solidFill>
              <a:srgbClr val="D6FB0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593592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9512" y="219456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593592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D6F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checked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3593592" y="318211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CF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or spoofed readings are held back from the twin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181344" y="1920240"/>
            <a:ext cx="26060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545F">
                <a:alpha val="14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409944" y="2148840"/>
            <a:ext cx="548640" cy="548640"/>
          </a:xfrm>
          <a:prstGeom prst="ellipse">
            <a:avLst/>
          </a:prstGeom>
          <a:solidFill>
            <a:srgbClr val="00545F"/>
          </a:solidFill>
          <a:ln w="12700">
            <a:solidFill>
              <a:srgbClr val="00545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409944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CF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55864" y="219456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409944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Twin updates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6409944" y="318211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picture of stock, shipments and routes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8997696" y="1920240"/>
            <a:ext cx="26060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545F">
                <a:alpha val="14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226296" y="2148840"/>
            <a:ext cx="548640" cy="548640"/>
          </a:xfrm>
          <a:prstGeom prst="ellipse">
            <a:avLst/>
          </a:prstGeom>
          <a:solidFill>
            <a:srgbClr val="00545F"/>
          </a:solidFill>
          <a:ln w="12700">
            <a:solidFill>
              <a:srgbClr val="00545F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9226296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CF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72216" y="2194560"/>
            <a:ext cx="457200" cy="4572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9226296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is estimated</a:t>
            </a:r>
            <a:endParaRPr lang="en-US" sz="1500" dirty="0"/>
          </a:p>
        </p:txBody>
      </p:sp>
      <p:sp>
        <p:nvSpPr>
          <p:cNvPr id="28" name="Text 22"/>
          <p:cNvSpPr txBox="1"/>
          <p:nvPr/>
        </p:nvSpPr>
        <p:spPr>
          <a:xfrm>
            <a:off x="9226296" y="318211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likely the corridor is to be disrupted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548640" y="4023360"/>
            <a:ext cx="26060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545F">
                <a:alpha val="14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777240" y="4251960"/>
            <a:ext cx="548640" cy="548640"/>
          </a:xfrm>
          <a:prstGeom prst="ellipse">
            <a:avLst/>
          </a:prstGeom>
          <a:solidFill>
            <a:srgbClr val="00545F"/>
          </a:solidFill>
          <a:ln w="12700">
            <a:solidFill>
              <a:srgbClr val="00545F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77724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CF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23160" y="4297680"/>
            <a:ext cx="457200" cy="457200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777240" y="4937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Futures simulated</a:t>
            </a:r>
            <a:endParaRPr lang="en-US" sz="1500" dirty="0"/>
          </a:p>
        </p:txBody>
      </p:sp>
      <p:sp>
        <p:nvSpPr>
          <p:cNvPr id="34" name="Text 27"/>
          <p:cNvSpPr txBox="1"/>
          <p:nvPr/>
        </p:nvSpPr>
        <p:spPr>
          <a:xfrm>
            <a:off x="777240" y="528523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if we act, and if we do nothing</a:t>
            </a:r>
            <a:endParaRPr lang="en-US" sz="1150" dirty="0"/>
          </a:p>
        </p:txBody>
      </p:sp>
      <p:sp>
        <p:nvSpPr>
          <p:cNvPr id="35" name="Shape 28"/>
          <p:cNvSpPr/>
          <p:nvPr/>
        </p:nvSpPr>
        <p:spPr>
          <a:xfrm>
            <a:off x="3364992" y="4023360"/>
            <a:ext cx="26060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545F">
                <a:alpha val="14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3593592" y="4251960"/>
            <a:ext cx="548640" cy="548640"/>
          </a:xfrm>
          <a:prstGeom prst="ellipse">
            <a:avLst/>
          </a:prstGeom>
          <a:solidFill>
            <a:srgbClr val="00545F"/>
          </a:solidFill>
          <a:ln w="12700">
            <a:solidFill>
              <a:srgbClr val="00545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3593592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CF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39512" y="4297680"/>
            <a:ext cx="457200" cy="457200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3593592" y="4937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 compared</a:t>
            </a:r>
            <a:endParaRPr lang="en-US" sz="1500" dirty="0"/>
          </a:p>
        </p:txBody>
      </p:sp>
      <p:sp>
        <p:nvSpPr>
          <p:cNvPr id="40" name="Text 32"/>
          <p:cNvSpPr txBox="1"/>
          <p:nvPr/>
        </p:nvSpPr>
        <p:spPr>
          <a:xfrm>
            <a:off x="3593592" y="528523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reroute, move stock, or both: cost, delay, risk</a:t>
            </a:r>
            <a:endParaRPr lang="en-US" sz="1150" dirty="0"/>
          </a:p>
        </p:txBody>
      </p:sp>
      <p:sp>
        <p:nvSpPr>
          <p:cNvPr id="41" name="Shape 33"/>
          <p:cNvSpPr/>
          <p:nvPr/>
        </p:nvSpPr>
        <p:spPr>
          <a:xfrm>
            <a:off x="6181344" y="4023360"/>
            <a:ext cx="26060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545F">
                <a:alpha val="14000"/>
              </a:srgbClr>
            </a:outerShdw>
          </a:effectLst>
        </p:spPr>
      </p:sp>
      <p:sp>
        <p:nvSpPr>
          <p:cNvPr id="42" name="Shape 34"/>
          <p:cNvSpPr/>
          <p:nvPr/>
        </p:nvSpPr>
        <p:spPr>
          <a:xfrm>
            <a:off x="6409944" y="4251960"/>
            <a:ext cx="548640" cy="548640"/>
          </a:xfrm>
          <a:prstGeom prst="ellipse">
            <a:avLst/>
          </a:prstGeom>
          <a:solidFill>
            <a:srgbClr val="00545F"/>
          </a:solidFill>
          <a:ln w="12700">
            <a:solidFill>
              <a:srgbClr val="00545F"/>
            </a:solidFill>
            <a:prstDash val="solid"/>
          </a:ln>
        </p:spPr>
      </p:sp>
      <p:sp>
        <p:nvSpPr>
          <p:cNvPr id="43" name="Text 35"/>
          <p:cNvSpPr txBox="1"/>
          <p:nvPr/>
        </p:nvSpPr>
        <p:spPr>
          <a:xfrm>
            <a:off x="6409944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CF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55864" y="4297680"/>
            <a:ext cx="457200" cy="457200"/>
          </a:xfrm>
          <a:prstGeom prst="rect">
            <a:avLst/>
          </a:prstGeom>
        </p:spPr>
      </p:pic>
      <p:sp>
        <p:nvSpPr>
          <p:cNvPr id="45" name="Text 36"/>
          <p:cNvSpPr txBox="1"/>
          <p:nvPr/>
        </p:nvSpPr>
        <p:spPr>
          <a:xfrm>
            <a:off x="6409944" y="4937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decides</a:t>
            </a:r>
            <a:endParaRPr lang="en-US" sz="1500" dirty="0"/>
          </a:p>
        </p:txBody>
      </p:sp>
      <p:sp>
        <p:nvSpPr>
          <p:cNvPr id="46" name="Text 37"/>
          <p:cNvSpPr txBox="1"/>
          <p:nvPr/>
        </p:nvSpPr>
        <p:spPr>
          <a:xfrm>
            <a:off x="6409944" y="528523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or modify, with a plain-language reason</a:t>
            </a:r>
            <a:endParaRPr lang="en-US" sz="1150" dirty="0"/>
          </a:p>
        </p:txBody>
      </p:sp>
      <p:sp>
        <p:nvSpPr>
          <p:cNvPr id="47" name="Shape 38"/>
          <p:cNvSpPr/>
          <p:nvPr/>
        </p:nvSpPr>
        <p:spPr>
          <a:xfrm>
            <a:off x="8997696" y="4023360"/>
            <a:ext cx="2606040" cy="1874520"/>
          </a:xfrm>
          <a:prstGeom prst="roundRect">
            <a:avLst>
              <a:gd name="adj" fmla="val 5854"/>
            </a:avLst>
          </a:prstGeom>
          <a:solidFill>
            <a:srgbClr val="00545F"/>
          </a:solidFill>
          <a:ln w="12700">
            <a:solidFill>
              <a:srgbClr val="00545F"/>
            </a:solidFill>
            <a:prstDash val="solid"/>
          </a:ln>
        </p:spPr>
      </p:sp>
      <p:sp>
        <p:nvSpPr>
          <p:cNvPr id="48" name="Shape 39"/>
          <p:cNvSpPr/>
          <p:nvPr/>
        </p:nvSpPr>
        <p:spPr>
          <a:xfrm>
            <a:off x="9226296" y="4251960"/>
            <a:ext cx="548640" cy="548640"/>
          </a:xfrm>
          <a:prstGeom prst="ellipse">
            <a:avLst/>
          </a:prstGeom>
          <a:solidFill>
            <a:srgbClr val="D6FB00"/>
          </a:solidFill>
          <a:ln w="12700">
            <a:solidFill>
              <a:srgbClr val="D6FB00"/>
            </a:solidFill>
            <a:prstDash val="solid"/>
          </a:ln>
        </p:spPr>
      </p:sp>
      <p:sp>
        <p:nvSpPr>
          <p:cNvPr id="49" name="Text 40"/>
          <p:cNvSpPr txBox="1"/>
          <p:nvPr/>
        </p:nvSpPr>
        <p:spPr>
          <a:xfrm>
            <a:off x="9226296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pic>
        <p:nvPicPr>
          <p:cNvPr id="50" name="Image 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72216" y="4297680"/>
            <a:ext cx="457200" cy="457200"/>
          </a:xfrm>
          <a:prstGeom prst="rect">
            <a:avLst/>
          </a:prstGeom>
        </p:spPr>
      </p:pic>
      <p:sp>
        <p:nvSpPr>
          <p:cNvPr id="51" name="Text 41"/>
          <p:cNvSpPr txBox="1"/>
          <p:nvPr/>
        </p:nvSpPr>
        <p:spPr>
          <a:xfrm>
            <a:off x="9226296" y="4937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D6F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is scored</a:t>
            </a:r>
            <a:endParaRPr lang="en-US" sz="1500" dirty="0"/>
          </a:p>
        </p:txBody>
      </p:sp>
      <p:sp>
        <p:nvSpPr>
          <p:cNvPr id="52" name="Text 42"/>
          <p:cNvSpPr txBox="1"/>
          <p:nvPr/>
        </p:nvSpPr>
        <p:spPr>
          <a:xfrm>
            <a:off x="9226296" y="528523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CF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is logged and later checked against reality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55680" y="4572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D6F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D6F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ARCHITECTURE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rgbClr val="ECFF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raw signal to approved action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417320" cy="1600200"/>
          </a:xfrm>
          <a:prstGeom prst="roundRect">
            <a:avLst>
              <a:gd name="adj" fmla="val 7742"/>
            </a:avLst>
          </a:prstGeom>
          <a:solidFill>
            <a:srgbClr val="00353C"/>
          </a:solidFill>
          <a:ln w="9525">
            <a:solidFill>
              <a:srgbClr val="2A7F8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2267712"/>
            <a:ext cx="1197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CF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880360"/>
            <a:ext cx="1197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9C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fleet telemetry, weather, alerts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984248" y="2898648"/>
            <a:ext cx="146304" cy="0"/>
          </a:xfrm>
          <a:prstGeom prst="line">
            <a:avLst/>
          </a:prstGeom>
          <a:noFill/>
          <a:ln w="19050">
            <a:solidFill>
              <a:srgbClr val="D6FB0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148840" y="2103120"/>
            <a:ext cx="1417320" cy="1600200"/>
          </a:xfrm>
          <a:prstGeom prst="roundRect">
            <a:avLst>
              <a:gd name="adj" fmla="val 7742"/>
            </a:avLst>
          </a:prstGeom>
          <a:solidFill>
            <a:srgbClr val="00353C"/>
          </a:solidFill>
          <a:ln w="9525">
            <a:solidFill>
              <a:srgbClr val="2A7F8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258568" y="2267712"/>
            <a:ext cx="1197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CF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258568" y="2880360"/>
            <a:ext cx="1197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9C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secure entry point, bad messages set aside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584448" y="2898648"/>
            <a:ext cx="146304" cy="0"/>
          </a:xfrm>
          <a:prstGeom prst="line">
            <a:avLst/>
          </a:prstGeom>
          <a:noFill/>
          <a:ln w="19050">
            <a:solidFill>
              <a:srgbClr val="D6FB0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749040" y="2103120"/>
            <a:ext cx="1417320" cy="1600200"/>
          </a:xfrm>
          <a:prstGeom prst="roundRect">
            <a:avLst>
              <a:gd name="adj" fmla="val 7742"/>
            </a:avLst>
          </a:prstGeom>
          <a:solidFill>
            <a:srgbClr val="D6FB00"/>
          </a:solidFill>
          <a:ln w="12700">
            <a:solidFill>
              <a:srgbClr val="D6FB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858768" y="2267712"/>
            <a:ext cx="1197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Engine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858768" y="2880360"/>
            <a:ext cx="1197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validate, score, quarantine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184648" y="2898648"/>
            <a:ext cx="146304" cy="0"/>
          </a:xfrm>
          <a:prstGeom prst="line">
            <a:avLst/>
          </a:prstGeom>
          <a:noFill/>
          <a:ln w="19050">
            <a:solidFill>
              <a:srgbClr val="D6FB0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349240" y="2103120"/>
            <a:ext cx="1417320" cy="1600200"/>
          </a:xfrm>
          <a:prstGeom prst="roundRect">
            <a:avLst>
              <a:gd name="adj" fmla="val 7742"/>
            </a:avLst>
          </a:prstGeom>
          <a:solidFill>
            <a:srgbClr val="00353C"/>
          </a:solidFill>
          <a:ln w="9525">
            <a:solidFill>
              <a:srgbClr val="2A7F8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58968" y="2267712"/>
            <a:ext cx="1197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CF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58968" y="2880360"/>
            <a:ext cx="1197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9C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graph + live state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784848" y="2898648"/>
            <a:ext cx="146304" cy="0"/>
          </a:xfrm>
          <a:prstGeom prst="line">
            <a:avLst/>
          </a:prstGeom>
          <a:noFill/>
          <a:ln w="19050">
            <a:solidFill>
              <a:srgbClr val="D6FB0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949440" y="2103120"/>
            <a:ext cx="1417320" cy="1600200"/>
          </a:xfrm>
          <a:prstGeom prst="roundRect">
            <a:avLst>
              <a:gd name="adj" fmla="val 7742"/>
            </a:avLst>
          </a:prstGeom>
          <a:solidFill>
            <a:srgbClr val="00353C"/>
          </a:solidFill>
          <a:ln w="9525">
            <a:solidFill>
              <a:srgbClr val="2A7F8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059168" y="2267712"/>
            <a:ext cx="1197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CF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&amp; Simulate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059168" y="2880360"/>
            <a:ext cx="1197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9C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risk, cascades, many futures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385048" y="2898648"/>
            <a:ext cx="146304" cy="0"/>
          </a:xfrm>
          <a:prstGeom prst="line">
            <a:avLst/>
          </a:prstGeom>
          <a:noFill/>
          <a:ln w="19050">
            <a:solidFill>
              <a:srgbClr val="D6FB0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549640" y="2103120"/>
            <a:ext cx="1417320" cy="1600200"/>
          </a:xfrm>
          <a:prstGeom prst="roundRect">
            <a:avLst>
              <a:gd name="adj" fmla="val 7742"/>
            </a:avLst>
          </a:prstGeom>
          <a:solidFill>
            <a:srgbClr val="00353C"/>
          </a:solidFill>
          <a:ln w="9525">
            <a:solidFill>
              <a:srgbClr val="2A7F8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659368" y="2267712"/>
            <a:ext cx="1197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CF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659368" y="2880360"/>
            <a:ext cx="1197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9C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plan within real constraints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985248" y="2898648"/>
            <a:ext cx="146304" cy="0"/>
          </a:xfrm>
          <a:prstGeom prst="line">
            <a:avLst/>
          </a:prstGeom>
          <a:noFill/>
          <a:ln w="19050">
            <a:solidFill>
              <a:srgbClr val="D6FB00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0149840" y="2103120"/>
            <a:ext cx="1417320" cy="1600200"/>
          </a:xfrm>
          <a:prstGeom prst="roundRect">
            <a:avLst>
              <a:gd name="adj" fmla="val 7742"/>
            </a:avLst>
          </a:prstGeom>
          <a:solidFill>
            <a:srgbClr val="00353C"/>
          </a:solidFill>
          <a:ln w="9525">
            <a:solidFill>
              <a:srgbClr val="2A7F8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259568" y="2267712"/>
            <a:ext cx="1197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CF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0259568" y="2880360"/>
            <a:ext cx="1197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9C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or modify, audited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4114800"/>
            <a:ext cx="4754880" cy="1005840"/>
          </a:xfrm>
          <a:prstGeom prst="roundRect">
            <a:avLst>
              <a:gd name="adj" fmla="val 10909"/>
            </a:avLst>
          </a:prstGeom>
          <a:solidFill>
            <a:srgbClr val="00545F"/>
          </a:solidFill>
          <a:ln w="12700">
            <a:solidFill>
              <a:srgbClr val="00545F"/>
            </a:solidFill>
            <a:prstDash val="solid"/>
          </a:ln>
        </p:spPr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389120"/>
            <a:ext cx="457200" cy="457200"/>
          </a:xfrm>
          <a:prstGeom prst="rect">
            <a:avLst/>
          </a:prstGeom>
        </p:spPr>
      </p:pic>
      <p:sp>
        <p:nvSpPr>
          <p:cNvPr id="34" name="Text 31"/>
          <p:cNvSpPr txBox="1"/>
          <p:nvPr/>
        </p:nvSpPr>
        <p:spPr>
          <a:xfrm>
            <a:off x="1325880" y="4251960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D6F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"true" world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ECF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simulator the twin never sees; it only gets noisy or attacked copies</a:t>
            </a:r>
            <a:endParaRPr lang="en-US" sz="1500" dirty="0"/>
          </a:p>
        </p:txBody>
      </p:sp>
      <p:sp>
        <p:nvSpPr>
          <p:cNvPr id="35" name="Shape 32"/>
          <p:cNvSpPr/>
          <p:nvPr/>
        </p:nvSpPr>
        <p:spPr>
          <a:xfrm>
            <a:off x="5349240" y="4617720"/>
            <a:ext cx="502920" cy="0"/>
          </a:xfrm>
          <a:prstGeom prst="line">
            <a:avLst/>
          </a:prstGeom>
          <a:noFill/>
          <a:ln w="19050">
            <a:solidFill>
              <a:srgbClr val="D6FB00"/>
            </a:solidFill>
            <a:prstDash val="dash"/>
            <a:tailEnd type="triangle"/>
          </a:ln>
        </p:spPr>
      </p:sp>
      <p:sp>
        <p:nvSpPr>
          <p:cNvPr id="36" name="Shape 33"/>
          <p:cNvSpPr/>
          <p:nvPr/>
        </p:nvSpPr>
        <p:spPr>
          <a:xfrm>
            <a:off x="5897880" y="4114800"/>
            <a:ext cx="5715000" cy="1005840"/>
          </a:xfrm>
          <a:prstGeom prst="roundRect">
            <a:avLst>
              <a:gd name="adj" fmla="val 10909"/>
            </a:avLst>
          </a:prstGeom>
          <a:solidFill>
            <a:srgbClr val="00353C"/>
          </a:solidFill>
          <a:ln w="12700">
            <a:solidFill>
              <a:srgbClr val="D6FB00"/>
            </a:solidFill>
            <a:prstDash val="dash"/>
          </a:ln>
        </p:spPr>
      </p:sp>
      <p:pic>
        <p:nvPicPr>
          <p:cNvPr id="37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60" y="4389120"/>
            <a:ext cx="457200" cy="457200"/>
          </a:xfrm>
          <a:prstGeom prst="rect">
            <a:avLst/>
          </a:prstGeom>
        </p:spPr>
      </p:pic>
      <p:sp>
        <p:nvSpPr>
          <p:cNvPr id="38" name="Text 34"/>
          <p:cNvSpPr txBox="1"/>
          <p:nvPr/>
        </p:nvSpPr>
        <p:spPr>
          <a:xfrm>
            <a:off x="6675120" y="42519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CF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service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A9C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what the twin believed with what really happened</a:t>
            </a:r>
            <a:endParaRPr lang="en-US" sz="1500" dirty="0"/>
          </a:p>
        </p:txBody>
      </p:sp>
      <p:sp>
        <p:nvSpPr>
          <p:cNvPr id="39" name="Shape 35"/>
          <p:cNvSpPr/>
          <p:nvPr/>
        </p:nvSpPr>
        <p:spPr>
          <a:xfrm>
            <a:off x="548640" y="5532120"/>
            <a:ext cx="3566160" cy="502920"/>
          </a:xfrm>
          <a:prstGeom prst="roundRect">
            <a:avLst>
              <a:gd name="adj" fmla="val 21818"/>
            </a:avLst>
          </a:prstGeom>
          <a:solidFill>
            <a:srgbClr val="D6FB00"/>
          </a:solidFill>
          <a:ln w="12700">
            <a:solidFill>
              <a:srgbClr val="D6FB00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548640" y="55321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codebase, clear module boundaries</a:t>
            </a:r>
            <a:endParaRPr lang="en-US" sz="1250" dirty="0"/>
          </a:p>
        </p:txBody>
      </p:sp>
      <p:sp>
        <p:nvSpPr>
          <p:cNvPr id="41" name="Shape 37"/>
          <p:cNvSpPr/>
          <p:nvPr/>
        </p:nvSpPr>
        <p:spPr>
          <a:xfrm>
            <a:off x="4297680" y="5532120"/>
            <a:ext cx="3566160" cy="502920"/>
          </a:xfrm>
          <a:prstGeom prst="roundRect">
            <a:avLst>
              <a:gd name="adj" fmla="val 21818"/>
            </a:avLst>
          </a:prstGeom>
          <a:solidFill>
            <a:srgbClr val="D6FB00"/>
          </a:solidFill>
          <a:ln w="12700">
            <a:solidFill>
              <a:srgbClr val="D6FB00"/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4297680" y="55321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explains the plan, never decides it</a:t>
            </a:r>
            <a:endParaRPr lang="en-US" sz="1250" dirty="0"/>
          </a:p>
        </p:txBody>
      </p:sp>
      <p:sp>
        <p:nvSpPr>
          <p:cNvPr id="43" name="Shape 39"/>
          <p:cNvSpPr/>
          <p:nvPr/>
        </p:nvSpPr>
        <p:spPr>
          <a:xfrm>
            <a:off x="8046720" y="5532120"/>
            <a:ext cx="3566160" cy="502920"/>
          </a:xfrm>
          <a:prstGeom prst="roundRect">
            <a:avLst>
              <a:gd name="adj" fmla="val 21818"/>
            </a:avLst>
          </a:prstGeom>
          <a:solidFill>
            <a:srgbClr val="D6FB00"/>
          </a:solidFill>
          <a:ln w="12700">
            <a:solidFill>
              <a:srgbClr val="D6FB00"/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8046720" y="55321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data never enters the twin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55680" y="4572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5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05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 1 · DATA TRUST ENGINE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rgbClr val="0B2E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 reading has to earn its place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74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READING IS CHECKED FOR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2468880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12700" dir="5400000" algn="bl" rotWithShape="0">
              <a:srgbClr val="00545F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85800" y="2286000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and well-formed?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154680" y="2286000"/>
            <a:ext cx="2468880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12700" dir="5400000" algn="bl" rotWithShape="0">
              <a:srgbClr val="00545F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291840" y="2286000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Physically possible?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2468880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12700" dir="5400000" algn="bl" rotWithShape="0">
              <a:srgbClr val="00545F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85800" y="3017520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with its last position?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154680" y="3017520"/>
            <a:ext cx="2468880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12700" dir="5400000" algn="bl" rotWithShape="0">
              <a:srgbClr val="00545F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3291840" y="3017520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real road?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2468880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12700" dir="5400000" algn="bl" rotWithShape="0">
              <a:srgbClr val="00545F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85800" y="3749040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its assigned route?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154680" y="3749040"/>
            <a:ext cx="2468880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12700" dir="5400000" algn="bl" rotWithShape="0">
              <a:srgbClr val="00545F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3291840" y="3749040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Fresh, not a replay?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480560"/>
            <a:ext cx="2468880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12700" dir="5400000" algn="bl" rotWithShape="0">
              <a:srgbClr val="00545F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85800" y="4480560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pattern?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154680" y="4480560"/>
            <a:ext cx="2468880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12700" dir="5400000" algn="bl" rotWithShape="0">
              <a:srgbClr val="00545F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3291840" y="4480560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weather and gate scans?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303520"/>
            <a:ext cx="5074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005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impossible reading (e.g. a truck "teleporting") is rejected outright. Good-looking side signals cannot rescue it.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172200" y="18745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DECIDES WHAT HAPPENS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72200" y="2286000"/>
            <a:ext cx="5440680" cy="1024128"/>
          </a:xfrm>
          <a:prstGeom prst="roundRect">
            <a:avLst>
              <a:gd name="adj" fmla="val 10714"/>
            </a:avLst>
          </a:prstGeom>
          <a:solidFill>
            <a:srgbClr val="00545F"/>
          </a:solidFill>
          <a:ln w="12700">
            <a:solidFill>
              <a:srgbClr val="0054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55080" y="2523744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088" y="2587752"/>
            <a:ext cx="420624" cy="420624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7132320" y="2414016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D6F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</a:t>
            </a:r>
            <a:endParaRPr lang="en-US" sz="1600" dirty="0"/>
          </a:p>
          <a:p>
            <a:pPr marL="0" indent="0">
              <a:buNone/>
            </a:pPr>
            <a:r>
              <a:rPr lang="en-US" sz="1250" dirty="0">
                <a:solidFill>
                  <a:srgbClr val="ECF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the twin normally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6172200" y="3474720"/>
            <a:ext cx="5440680" cy="1024128"/>
          </a:xfrm>
          <a:prstGeom prst="roundRect">
            <a:avLst>
              <a:gd name="adj" fmla="val 10714"/>
            </a:avLst>
          </a:prstGeom>
          <a:solidFill>
            <a:srgbClr val="00545F"/>
          </a:solidFill>
          <a:ln w="12700">
            <a:solidFill>
              <a:srgbClr val="00545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355080" y="3712464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9088" y="3776472"/>
            <a:ext cx="420624" cy="420624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7132320" y="3602736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D6F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</a:t>
            </a:r>
            <a:endParaRPr lang="en-US" sz="1600" dirty="0"/>
          </a:p>
          <a:p>
            <a:pPr marL="0" indent="0">
              <a:buNone/>
            </a:pPr>
            <a:r>
              <a:rPr lang="en-US" sz="1250" dirty="0">
                <a:solidFill>
                  <a:srgbClr val="ECF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carefully: wider error bars, counted at a discount by the planner</a:t>
            </a:r>
            <a:endParaRPr lang="en-US" sz="1600" dirty="0"/>
          </a:p>
        </p:txBody>
      </p:sp>
      <p:sp>
        <p:nvSpPr>
          <p:cNvPr id="32" name="Shape 28"/>
          <p:cNvSpPr/>
          <p:nvPr/>
        </p:nvSpPr>
        <p:spPr>
          <a:xfrm>
            <a:off x="6172200" y="4663440"/>
            <a:ext cx="5440680" cy="1024128"/>
          </a:xfrm>
          <a:prstGeom prst="roundRect">
            <a:avLst>
              <a:gd name="adj" fmla="val 10714"/>
            </a:avLst>
          </a:prstGeom>
          <a:solidFill>
            <a:srgbClr val="00545F"/>
          </a:solidFill>
          <a:ln w="12700">
            <a:solidFill>
              <a:srgbClr val="00545F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6355080" y="4901184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9088" y="4965192"/>
            <a:ext cx="420624" cy="420624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7132320" y="4791456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D6F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Quarantined</a:t>
            </a:r>
            <a:endParaRPr lang="en-US" sz="1600" dirty="0"/>
          </a:p>
          <a:p>
            <a:pPr marL="0" indent="0">
              <a:buNone/>
            </a:pPr>
            <a:r>
              <a:rPr lang="en-US" sz="1250" dirty="0">
                <a:solidFill>
                  <a:srgbClr val="ECF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out of the twin; last good state is used; an analyst reviews it</a:t>
            </a:r>
            <a:endParaRPr lang="en-US" sz="1600" dirty="0"/>
          </a:p>
        </p:txBody>
      </p:sp>
      <p:sp>
        <p:nvSpPr>
          <p:cNvPr id="36" name="Text 31"/>
          <p:cNvSpPr txBox="1"/>
          <p:nvPr/>
        </p:nvSpPr>
        <p:spPr>
          <a:xfrm>
            <a:off x="6172200" y="5897880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drops fast when something looks wrong and recovers slowly, so one good reading cannot undo an attack.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55680" y="4572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D6F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D6F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 2 · RESILIENCE UNDER ATTACK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rgbClr val="ECFF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Hard to fool, and never crashes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74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A9C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AN ATTACKER FAKE A ROAD BLOCKAGE?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5577840" cy="1371600"/>
          </a:xfrm>
          <a:prstGeom prst="roundRect">
            <a:avLst>
              <a:gd name="adj" fmla="val 8000"/>
            </a:avLst>
          </a:prstGeom>
          <a:solidFill>
            <a:srgbClr val="00353C"/>
          </a:solidFill>
          <a:ln w="12700">
            <a:solidFill>
              <a:srgbClr val="0035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42316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ECF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Faked blockage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A9C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trucks from one fleet claim to stop, the sky is clear, and other fleets' trucks keep moving.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931920" y="242316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Marked "suspected". A human is asked. No automatic reroute.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840480"/>
            <a:ext cx="5577840" cy="1371600"/>
          </a:xfrm>
          <a:prstGeom prst="roundRect">
            <a:avLst>
              <a:gd name="adj" fmla="val 8000"/>
            </a:avLst>
          </a:prstGeom>
          <a:solidFill>
            <a:srgbClr val="00353C"/>
          </a:solidFill>
          <a:ln w="12700">
            <a:solidFill>
              <a:srgbClr val="00353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97764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ECF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blockage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A9C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Trucks from several fleets stop, and a weather alert backs it up.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931920" y="397764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marked blocked. Simulation and a new plan follow.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48640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ECF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trusted readings count, and a second, independent source must agree.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629400" y="1874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A9C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DATA GOES DARK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29400" y="2286000"/>
            <a:ext cx="566928" cy="566928"/>
          </a:xfrm>
          <a:prstGeom prst="ellipse">
            <a:avLst/>
          </a:prstGeom>
          <a:solidFill>
            <a:srgbClr val="16A34A"/>
          </a:solidFill>
          <a:ln w="19050">
            <a:solidFill>
              <a:srgbClr val="ECFFB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60920" y="226771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CF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A9C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fresh and trusted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912864" y="2871216"/>
            <a:ext cx="0" cy="274320"/>
          </a:xfrm>
          <a:prstGeom prst="line">
            <a:avLst/>
          </a:prstGeom>
          <a:noFill/>
          <a:ln w="15875">
            <a:solidFill>
              <a:srgbClr val="ECFFB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29400" y="3154680"/>
            <a:ext cx="566928" cy="566928"/>
          </a:xfrm>
          <a:prstGeom prst="ellipse">
            <a:avLst/>
          </a:prstGeom>
          <a:solidFill>
            <a:srgbClr val="CA8A04"/>
          </a:solidFill>
          <a:ln w="19050">
            <a:solidFill>
              <a:srgbClr val="ECFFB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60920" y="313639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CF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DEGRADED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A9C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sources stale: widen uncertainty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912864" y="3739896"/>
            <a:ext cx="0" cy="274320"/>
          </a:xfrm>
          <a:prstGeom prst="line">
            <a:avLst/>
          </a:prstGeom>
          <a:noFill/>
          <a:ln w="15875">
            <a:solidFill>
              <a:srgbClr val="ECFFB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29400" y="4023360"/>
            <a:ext cx="566928" cy="566928"/>
          </a:xfrm>
          <a:prstGeom prst="ellipse">
            <a:avLst/>
          </a:prstGeom>
          <a:solidFill>
            <a:srgbClr val="DC2626"/>
          </a:solidFill>
          <a:ln w="19050">
            <a:solidFill>
              <a:srgbClr val="ECFFB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60920" y="400507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CF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A9C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data lost: run on last good state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912864" y="4608576"/>
            <a:ext cx="0" cy="274320"/>
          </a:xfrm>
          <a:prstGeom prst="line">
            <a:avLst/>
          </a:prstGeom>
          <a:noFill/>
          <a:ln w="15875">
            <a:solidFill>
              <a:srgbClr val="ECFFB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29400" y="4892040"/>
            <a:ext cx="566928" cy="566928"/>
          </a:xfrm>
          <a:prstGeom prst="ellipse">
            <a:avLst/>
          </a:prstGeom>
          <a:solidFill>
            <a:srgbClr val="0D9488"/>
          </a:solidFill>
          <a:ln w="19050">
            <a:solidFill>
              <a:srgbClr val="ECFFB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60920" y="487375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CF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A9C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returns: reconcile, then back to normal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629400" y="5760720"/>
            <a:ext cx="4983480" cy="502920"/>
          </a:xfrm>
          <a:prstGeom prst="roundRect">
            <a:avLst>
              <a:gd name="adj" fmla="val 21818"/>
            </a:avLst>
          </a:prstGeom>
          <a:solidFill>
            <a:srgbClr val="D6FB00"/>
          </a:solidFill>
          <a:ln w="12700">
            <a:solidFill>
              <a:srgbClr val="D6FB0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766560" y="57607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rule: no single bad message can stop the system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55680" y="4572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5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05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 3 · MEASURABLE PROOF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rgbClr val="0B2E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we will prove it works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74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MEASURE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548640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545F">
                <a:alpha val="12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487168"/>
            <a:ext cx="411480" cy="4114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25880" y="237744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close ETAs, stock levels and stockout warnings are to the truth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3246120"/>
            <a:ext cx="5486400" cy="822960"/>
          </a:xfrm>
          <a:prstGeom prst="roundRect">
            <a:avLst>
              <a:gd name="adj" fmla="val 13333"/>
            </a:avLst>
          </a:prstGeom>
          <a:solidFill>
            <a:srgbClr val="00545F"/>
          </a:solidFill>
          <a:ln w="12700">
            <a:solidFill>
              <a:srgbClr val="00545F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447288"/>
            <a:ext cx="411480" cy="411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25880" y="333756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D6F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quality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ECF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plan vs the best plan made with perfect information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548640" y="4206240"/>
            <a:ext cx="548640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545F">
                <a:alpha val="12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407408"/>
            <a:ext cx="411480" cy="4114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429768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detection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catch, what we miss, and how quickly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548640" y="5166360"/>
            <a:ext cx="548640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545F">
                <a:alpha val="12000"/>
              </a:srgbClr>
            </a:outerShdw>
          </a:effectLst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5367528"/>
            <a:ext cx="411480" cy="41148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525780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and scale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fast data flows and how quickly plans are ready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6492240" y="18745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A REPEATABLE TEST SUITE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6492240" y="2286000"/>
            <a:ext cx="2468880" cy="420624"/>
          </a:xfrm>
          <a:prstGeom prst="roundRect">
            <a:avLst>
              <a:gd name="adj" fmla="val 26087"/>
            </a:avLst>
          </a:prstGeom>
          <a:solidFill>
            <a:srgbClr val="ECFFB6"/>
          </a:solidFill>
          <a:ln w="9525">
            <a:solidFill>
              <a:srgbClr val="00545F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6601968" y="228600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spoofing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9098280" y="2286000"/>
            <a:ext cx="2468880" cy="420624"/>
          </a:xfrm>
          <a:prstGeom prst="roundRect">
            <a:avLst>
              <a:gd name="adj" fmla="val 26087"/>
            </a:avLst>
          </a:prstGeom>
          <a:solidFill>
            <a:srgbClr val="ECFFB6"/>
          </a:solidFill>
          <a:ln w="9525">
            <a:solidFill>
              <a:srgbClr val="00545F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9208008" y="228600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GPS drift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6492240" y="2816352"/>
            <a:ext cx="2468880" cy="420624"/>
          </a:xfrm>
          <a:prstGeom prst="roundRect">
            <a:avLst>
              <a:gd name="adj" fmla="val 26087"/>
            </a:avLst>
          </a:prstGeom>
          <a:solidFill>
            <a:srgbClr val="ECFFB6"/>
          </a:solidFill>
          <a:ln w="9525">
            <a:solidFill>
              <a:srgbClr val="00545F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6601968" y="2816352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inventory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9098280" y="2816352"/>
            <a:ext cx="2468880" cy="420624"/>
          </a:xfrm>
          <a:prstGeom prst="roundRect">
            <a:avLst>
              <a:gd name="adj" fmla="val 26087"/>
            </a:avLst>
          </a:prstGeom>
          <a:solidFill>
            <a:srgbClr val="ECFFB6"/>
          </a:solidFill>
          <a:ln w="9525">
            <a:solidFill>
              <a:srgbClr val="00545F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9208008" y="2816352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Corrupted supplier feed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6492240" y="3346704"/>
            <a:ext cx="2468880" cy="420624"/>
          </a:xfrm>
          <a:prstGeom prst="roundRect">
            <a:avLst>
              <a:gd name="adj" fmla="val 26087"/>
            </a:avLst>
          </a:prstGeom>
          <a:solidFill>
            <a:srgbClr val="ECFFB6"/>
          </a:solidFill>
          <a:ln w="9525">
            <a:solidFill>
              <a:srgbClr val="00545F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6601968" y="3346704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fields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9098280" y="3346704"/>
            <a:ext cx="2468880" cy="420624"/>
          </a:xfrm>
          <a:prstGeom prst="roundRect">
            <a:avLst>
              <a:gd name="adj" fmla="val 26087"/>
            </a:avLst>
          </a:prstGeom>
          <a:solidFill>
            <a:srgbClr val="ECFFB6"/>
          </a:solidFill>
          <a:ln w="9525">
            <a:solidFill>
              <a:srgbClr val="00545F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9208008" y="3346704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Replayed messages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6492240" y="3877056"/>
            <a:ext cx="2468880" cy="420624"/>
          </a:xfrm>
          <a:prstGeom prst="roundRect">
            <a:avLst>
              <a:gd name="adj" fmla="val 26087"/>
            </a:avLst>
          </a:prstGeom>
          <a:solidFill>
            <a:srgbClr val="ECFFB6"/>
          </a:solidFill>
          <a:ln w="9525">
            <a:solidFill>
              <a:srgbClr val="00545F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6601968" y="387705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blackout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9098280" y="3877056"/>
            <a:ext cx="2468880" cy="420624"/>
          </a:xfrm>
          <a:prstGeom prst="roundRect">
            <a:avLst>
              <a:gd name="adj" fmla="val 26087"/>
            </a:avLst>
          </a:prstGeom>
          <a:solidFill>
            <a:srgbClr val="ECFFB6"/>
          </a:solidFill>
          <a:ln w="9525">
            <a:solidFill>
              <a:srgbClr val="00545F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9208008" y="387705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Faked road blockage</a:t>
            </a:r>
            <a:endParaRPr lang="en-US" sz="1200" dirty="0"/>
          </a:p>
        </p:txBody>
      </p:sp>
      <p:sp>
        <p:nvSpPr>
          <p:cNvPr id="35" name="Shape 29"/>
          <p:cNvSpPr/>
          <p:nvPr/>
        </p:nvSpPr>
        <p:spPr>
          <a:xfrm>
            <a:off x="6492240" y="4407408"/>
            <a:ext cx="2468880" cy="420624"/>
          </a:xfrm>
          <a:prstGeom prst="roundRect">
            <a:avLst>
              <a:gd name="adj" fmla="val 26087"/>
            </a:avLst>
          </a:prstGeom>
          <a:solidFill>
            <a:srgbClr val="D6FB00"/>
          </a:solidFill>
          <a:ln w="12700">
            <a:solidFill>
              <a:srgbClr val="D6FB00"/>
            </a:solidFill>
            <a:prstDash val="solid"/>
          </a:ln>
        </p:spPr>
      </p:sp>
      <p:sp>
        <p:nvSpPr>
          <p:cNvPr id="36" name="Text 30"/>
          <p:cNvSpPr txBox="1"/>
          <p:nvPr/>
        </p:nvSpPr>
        <p:spPr>
          <a:xfrm>
            <a:off x="6601968" y="440740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closure</a:t>
            </a:r>
            <a:endParaRPr lang="en-US" sz="1200" dirty="0"/>
          </a:p>
        </p:txBody>
      </p:sp>
      <p:sp>
        <p:nvSpPr>
          <p:cNvPr id="37" name="Shape 31"/>
          <p:cNvSpPr/>
          <p:nvPr/>
        </p:nvSpPr>
        <p:spPr>
          <a:xfrm>
            <a:off x="9098280" y="4407408"/>
            <a:ext cx="2468880" cy="420624"/>
          </a:xfrm>
          <a:prstGeom prst="roundRect">
            <a:avLst>
              <a:gd name="adj" fmla="val 26087"/>
            </a:avLst>
          </a:prstGeom>
          <a:solidFill>
            <a:srgbClr val="D6FB00"/>
          </a:solidFill>
          <a:ln w="12700">
            <a:solidFill>
              <a:srgbClr val="D6FB00"/>
            </a:solidFill>
            <a:prstDash val="solid"/>
          </a:ln>
        </p:spPr>
      </p:sp>
      <p:sp>
        <p:nvSpPr>
          <p:cNvPr id="38" name="Text 32"/>
          <p:cNvSpPr txBox="1"/>
          <p:nvPr/>
        </p:nvSpPr>
        <p:spPr>
          <a:xfrm>
            <a:off x="9208008" y="440740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spike</a:t>
            </a:r>
            <a:endParaRPr lang="en-US" sz="1200" dirty="0"/>
          </a:p>
        </p:txBody>
      </p:sp>
      <p:sp>
        <p:nvSpPr>
          <p:cNvPr id="39" name="Shape 33"/>
          <p:cNvSpPr/>
          <p:nvPr/>
        </p:nvSpPr>
        <p:spPr>
          <a:xfrm>
            <a:off x="6492240" y="4937760"/>
            <a:ext cx="2468880" cy="420624"/>
          </a:xfrm>
          <a:prstGeom prst="roundRect">
            <a:avLst>
              <a:gd name="adj" fmla="val 26087"/>
            </a:avLst>
          </a:prstGeom>
          <a:solidFill>
            <a:srgbClr val="D6FB00"/>
          </a:solidFill>
          <a:ln w="12700">
            <a:solidFill>
              <a:srgbClr val="D6FB00"/>
            </a:solidFill>
            <a:prstDash val="solid"/>
          </a:ln>
        </p:spPr>
      </p:sp>
      <p:sp>
        <p:nvSpPr>
          <p:cNvPr id="40" name="Text 34"/>
          <p:cNvSpPr txBox="1"/>
          <p:nvPr/>
        </p:nvSpPr>
        <p:spPr>
          <a:xfrm>
            <a:off x="6601968" y="493776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storm</a:t>
            </a:r>
            <a:endParaRPr lang="en-US" sz="1200" dirty="0"/>
          </a:p>
        </p:txBody>
      </p:sp>
      <p:sp>
        <p:nvSpPr>
          <p:cNvPr id="41" name="Shape 35"/>
          <p:cNvSpPr/>
          <p:nvPr/>
        </p:nvSpPr>
        <p:spPr>
          <a:xfrm>
            <a:off x="9098280" y="4937760"/>
            <a:ext cx="2468880" cy="420624"/>
          </a:xfrm>
          <a:prstGeom prst="roundRect">
            <a:avLst>
              <a:gd name="adj" fmla="val 26087"/>
            </a:avLst>
          </a:prstGeom>
          <a:solidFill>
            <a:srgbClr val="D6FB00"/>
          </a:solidFill>
          <a:ln w="12700">
            <a:solidFill>
              <a:srgbClr val="D6FB00"/>
            </a:solidFill>
            <a:prstDash val="solid"/>
          </a:ln>
        </p:spPr>
      </p:sp>
      <p:sp>
        <p:nvSpPr>
          <p:cNvPr id="42" name="Text 36"/>
          <p:cNvSpPr txBox="1"/>
          <p:nvPr/>
        </p:nvSpPr>
        <p:spPr>
          <a:xfrm>
            <a:off x="9208008" y="493776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crisis</a:t>
            </a:r>
            <a:endParaRPr lang="en-US" sz="1200" dirty="0"/>
          </a:p>
        </p:txBody>
      </p:sp>
      <p:sp>
        <p:nvSpPr>
          <p:cNvPr id="43" name="Text 37"/>
          <p:cNvSpPr txBox="1"/>
          <p:nvPr/>
        </p:nvSpPr>
        <p:spPr>
          <a:xfrm>
            <a:off x="6492240" y="55778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Outlined: attacks on data.  Filled: real-world disruptions.  Every run is seeded, so anyone can repeat it.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55680" y="4572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5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05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WILL BUILD IT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rgbClr val="0B2E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Build order, stack and safety nets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74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PATH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1691640" cy="685800"/>
          </a:xfrm>
          <a:prstGeom prst="roundRect">
            <a:avLst>
              <a:gd name="adj" fmla="val 16000"/>
            </a:avLst>
          </a:prstGeom>
          <a:solidFill>
            <a:srgbClr val="00545F"/>
          </a:solidFill>
          <a:ln w="12700">
            <a:solidFill>
              <a:srgbClr val="0054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24028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CF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world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258568" y="2578608"/>
            <a:ext cx="146304" cy="0"/>
          </a:xfrm>
          <a:prstGeom prst="line">
            <a:avLst/>
          </a:prstGeom>
          <a:noFill/>
          <a:ln w="19050">
            <a:solidFill>
              <a:srgbClr val="00545F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423160" y="2240280"/>
            <a:ext cx="1691640" cy="685800"/>
          </a:xfrm>
          <a:prstGeom prst="roundRect">
            <a:avLst>
              <a:gd name="adj" fmla="val 16000"/>
            </a:avLst>
          </a:prstGeom>
          <a:solidFill>
            <a:srgbClr val="00545F"/>
          </a:solidFill>
          <a:ln w="12700">
            <a:solidFill>
              <a:srgbClr val="00545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14600" y="224028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CF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injectors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133088" y="2578608"/>
            <a:ext cx="146304" cy="0"/>
          </a:xfrm>
          <a:prstGeom prst="line">
            <a:avLst/>
          </a:prstGeom>
          <a:noFill/>
          <a:ln w="19050">
            <a:solidFill>
              <a:srgbClr val="00545F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297680" y="2240280"/>
            <a:ext cx="1691640" cy="685800"/>
          </a:xfrm>
          <a:prstGeom prst="roundRect">
            <a:avLst>
              <a:gd name="adj" fmla="val 16000"/>
            </a:avLst>
          </a:prstGeom>
          <a:solidFill>
            <a:srgbClr val="D6FB00"/>
          </a:solidFill>
          <a:ln w="12700">
            <a:solidFill>
              <a:srgbClr val="D6FB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89120" y="224028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Engine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007608" y="2578608"/>
            <a:ext cx="146304" cy="0"/>
          </a:xfrm>
          <a:prstGeom prst="line">
            <a:avLst/>
          </a:prstGeom>
          <a:noFill/>
          <a:ln w="19050">
            <a:solidFill>
              <a:srgbClr val="00545F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172200" y="2240280"/>
            <a:ext cx="1691640" cy="685800"/>
          </a:xfrm>
          <a:prstGeom prst="roundRect">
            <a:avLst>
              <a:gd name="adj" fmla="val 16000"/>
            </a:avLst>
          </a:prstGeom>
          <a:solidFill>
            <a:srgbClr val="00545F"/>
          </a:solidFill>
          <a:ln w="12700">
            <a:solidFill>
              <a:srgbClr val="00545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63640" y="224028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CF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Twin + planner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882128" y="2578608"/>
            <a:ext cx="146304" cy="0"/>
          </a:xfrm>
          <a:prstGeom prst="line">
            <a:avLst/>
          </a:prstGeom>
          <a:noFill/>
          <a:ln w="19050">
            <a:solidFill>
              <a:srgbClr val="00545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046720" y="2240280"/>
            <a:ext cx="1691640" cy="685800"/>
          </a:xfrm>
          <a:prstGeom prst="roundRect">
            <a:avLst>
              <a:gd name="adj" fmla="val 16000"/>
            </a:avLst>
          </a:prstGeom>
          <a:solidFill>
            <a:srgbClr val="00545F"/>
          </a:solidFill>
          <a:ln w="12700">
            <a:solidFill>
              <a:srgbClr val="00545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138160" y="224028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CF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756648" y="2578608"/>
            <a:ext cx="146304" cy="0"/>
          </a:xfrm>
          <a:prstGeom prst="line">
            <a:avLst/>
          </a:prstGeom>
          <a:noFill/>
          <a:ln w="19050">
            <a:solidFill>
              <a:srgbClr val="00545F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921240" y="2240280"/>
            <a:ext cx="1691640" cy="685800"/>
          </a:xfrm>
          <a:prstGeom prst="roundRect">
            <a:avLst>
              <a:gd name="adj" fmla="val 16000"/>
            </a:avLst>
          </a:prstGeom>
          <a:solidFill>
            <a:srgbClr val="00545F"/>
          </a:solidFill>
          <a:ln w="12700">
            <a:solidFill>
              <a:srgbClr val="00545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012680" y="224028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CF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suite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30175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simulated world comes first: both the trust walkthrough and the proof depend on it.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3611880"/>
            <a:ext cx="260604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12700" dir="5400000" algn="bl" rotWithShape="0">
              <a:srgbClr val="00545F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85800" y="370332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000" dirty="0"/>
          </a:p>
          <a:p>
            <a:pPr marL="0" indent="0"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· MapLibre maps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64992" y="3611880"/>
            <a:ext cx="260604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12700" dir="5400000" algn="bl" rotWithShape="0">
              <a:srgbClr val="00545F">
                <a:alpha val="12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3502152" y="370332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  <a:p>
            <a:pPr marL="0" indent="0"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81344" y="3611880"/>
            <a:ext cx="260604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12700" dir="5400000" algn="bl" rotWithShape="0">
              <a:srgbClr val="00545F">
                <a:alpha val="12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6318504" y="370332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000" dirty="0"/>
          </a:p>
          <a:p>
            <a:pPr marL="0" indent="0"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OR-Tools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997696" y="3611880"/>
            <a:ext cx="260604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12700" dir="5400000" algn="bl" rotWithShape="0">
              <a:srgbClr val="00545F">
                <a:alpha val="12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9134856" y="370332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&amp; ML</a:t>
            </a:r>
            <a:endParaRPr lang="en-US" sz="1000" dirty="0"/>
          </a:p>
          <a:p>
            <a:pPr marL="0" indent="0"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· scikit-learn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4480560"/>
            <a:ext cx="260604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12700" dir="5400000" algn="bl" rotWithShape="0">
              <a:srgbClr val="00545F">
                <a:alpha val="12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685800" y="457200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  <a:p>
            <a:pPr marL="0" indent="0"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PostGIS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364992" y="4480560"/>
            <a:ext cx="260604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12700" dir="5400000" algn="bl" rotWithShape="0">
              <a:srgbClr val="00545F">
                <a:alpha val="12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3502152" y="457200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1000" dirty="0"/>
          </a:p>
          <a:p>
            <a:pPr marL="0" indent="0"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Streams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81344" y="4480560"/>
            <a:ext cx="260604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12700" dir="5400000" algn="bl" rotWithShape="0">
              <a:srgbClr val="00545F">
                <a:alpha val="12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6318504" y="457200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EXPLANATIONS</a:t>
            </a:r>
            <a:endParaRPr lang="en-US" sz="1000" dirty="0"/>
          </a:p>
          <a:p>
            <a:pPr marL="0" indent="0"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(narrates only)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997696" y="4480560"/>
            <a:ext cx="260604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12700" dir="5400000" algn="bl" rotWithShape="0">
              <a:srgbClr val="00545F">
                <a:alpha val="12000"/>
              </a:srgbClr>
            </a:outerShdw>
          </a:effectLst>
        </p:spPr>
      </p:sp>
      <p:sp>
        <p:nvSpPr>
          <p:cNvPr id="39" name="Text 37"/>
          <p:cNvSpPr txBox="1"/>
          <p:nvPr/>
        </p:nvSpPr>
        <p:spPr>
          <a:xfrm>
            <a:off x="9134856" y="457200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&amp; WATCH</a:t>
            </a:r>
            <a:endParaRPr lang="en-US" sz="1000" dirty="0"/>
          </a:p>
          <a:p>
            <a:pPr marL="0" indent="0"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· GitHub Actions · Grafana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48640" y="5486400"/>
            <a:ext cx="11064240" cy="658368"/>
          </a:xfrm>
          <a:prstGeom prst="roundRect">
            <a:avLst>
              <a:gd name="adj" fmla="val 16667"/>
            </a:avLst>
          </a:prstGeom>
          <a:solidFill>
            <a:srgbClr val="00545F"/>
          </a:solidFill>
          <a:ln w="12700">
            <a:solidFill>
              <a:srgbClr val="00545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77240" y="5486400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6F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time runs short, we cut first: </a:t>
            </a:r>
            <a:r>
              <a:rPr lang="en-US" sz="1300" dirty="0">
                <a:solidFill>
                  <a:srgbClr val="ECF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Kubernetes, satellite flood imagery, ship tracking. The core trust-and-proof slice is never cut.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7498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rgbClr val="ECFF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It sees trouble coming.</a:t>
            </a:r>
            <a:endParaRPr lang="en-US" sz="3000" dirty="0"/>
          </a:p>
          <a:p>
            <a:pPr marL="0" indent="0">
              <a:buNone/>
            </a:pPr>
            <a:r>
              <a:rPr lang="en-US" sz="3000" dirty="0">
                <a:solidFill>
                  <a:srgbClr val="ECFF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It knows which data to trust.</a:t>
            </a:r>
            <a:endParaRPr lang="en-US" sz="3000" dirty="0"/>
          </a:p>
          <a:p>
            <a:pPr marL="0" indent="0">
              <a:buNone/>
            </a:pPr>
            <a:r>
              <a:rPr lang="en-US" sz="3000" dirty="0">
                <a:solidFill>
                  <a:srgbClr val="ECFF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It proves how accurate it is.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977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6F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ABOUT DATA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4389120"/>
            <a:ext cx="2331720" cy="868680"/>
          </a:xfrm>
          <a:prstGeom prst="roundRect">
            <a:avLst>
              <a:gd name="adj" fmla="val 12632"/>
            </a:avLst>
          </a:prstGeom>
          <a:solidFill>
            <a:srgbClr val="D6FB00"/>
          </a:solidFill>
          <a:ln w="12700">
            <a:solidFill>
              <a:srgbClr val="D6FB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4498848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0B2E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</a:t>
            </a:r>
            <a:endParaRPr lang="en-US" sz="1500" dirty="0"/>
          </a:p>
          <a:p>
            <a:pPr marL="0" indent="0">
              <a:buNone/>
            </a:pPr>
            <a:r>
              <a:rPr lang="en-US" sz="11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weather and disaster alerts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154680" y="4389120"/>
            <a:ext cx="2331720" cy="868680"/>
          </a:xfrm>
          <a:prstGeom prst="roundRect">
            <a:avLst>
              <a:gd name="adj" fmla="val 12632"/>
            </a:avLst>
          </a:prstGeom>
          <a:solidFill>
            <a:srgbClr val="ECFFB6"/>
          </a:solidFill>
          <a:ln w="12700">
            <a:solidFill>
              <a:srgbClr val="ECFFB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19272" y="4498848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0B2E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REPLAY</a:t>
            </a:r>
            <a:endParaRPr lang="en-US" sz="1500" dirty="0"/>
          </a:p>
          <a:p>
            <a:pPr marL="0" indent="0">
              <a:buNone/>
            </a:pPr>
            <a:r>
              <a:rPr lang="en-US" sz="11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ship data, offline backup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0" y="4389120"/>
            <a:ext cx="2331720" cy="868680"/>
          </a:xfrm>
          <a:prstGeom prst="roundRect">
            <a:avLst>
              <a:gd name="adj" fmla="val 12632"/>
            </a:avLst>
          </a:prstGeom>
          <a:solidFill>
            <a:srgbClr val="00353C"/>
          </a:solidFill>
          <a:ln w="12700">
            <a:solidFill>
              <a:srgbClr val="ECFFB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833872" y="4498848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CFF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SIMULATED</a:t>
            </a:r>
            <a:endParaRPr lang="en-US" sz="1500" dirty="0"/>
          </a:p>
          <a:p>
            <a:pPr marL="0" indent="0">
              <a:buNone/>
            </a:pPr>
            <a:r>
              <a:rPr lang="en-US" sz="1150" dirty="0">
                <a:solidFill>
                  <a:srgbClr val="ECF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fleet, warehouses and orders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5321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D6F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are: design complete. Next: build the core slice.</a:t>
            </a:r>
            <a:endParaRPr lang="en-US" sz="14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0" y="822960"/>
            <a:ext cx="2011680" cy="2011680"/>
          </a:xfrm>
          <a:prstGeom prst="rect">
            <a:avLst/>
          </a:prstGeom>
        </p:spPr>
      </p:pic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0" y="2331720"/>
            <a:ext cx="2011680" cy="2011680"/>
          </a:xfrm>
          <a:prstGeom prst="rect">
            <a:avLst/>
          </a:prstGeom>
        </p:spPr>
      </p:pic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60" y="3840480"/>
            <a:ext cx="2011680" cy="20116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9052560" y="459943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dirty="0">
                <a:solidFill>
                  <a:srgbClr val="D6F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1434</Words>
  <Application>Microsoft Office PowerPoint</Application>
  <PresentationFormat>Widescreen</PresentationFormat>
  <Paragraphs>253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PNT1 Logistics Network Digital Twin — Round 1</dc:title>
  <dc:subject>PptxGenJS Presentation</dc:subject>
  <dc:creator>PptxGenJS</dc:creator>
  <cp:lastModifiedBy>Samyuktha Rudraraju</cp:lastModifiedBy>
  <cp:revision>2</cp:revision>
  <dcterms:created xsi:type="dcterms:W3CDTF">2026-09-30T09:16:17Z</dcterms:created>
  <dcterms:modified xsi:type="dcterms:W3CDTF">2026-09-30T10:02:32Z</dcterms:modified>
</cp:coreProperties>
</file>